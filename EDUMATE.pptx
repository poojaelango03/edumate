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8288000" cy="10287000"/>
  <p:notesSz cx="6858000" cy="9144000"/>
  <p:embeddedFontLst>
    <p:embeddedFont>
      <p:font typeface="Calibri" panose="020F0502020204030204" pitchFamily="34" charset="0"/>
      <p:regular r:id="rId7"/>
      <p:bold r:id="rId8"/>
      <p:italic r:id="rId9"/>
      <p:boldItalic r:id="rId10"/>
    </p:embeddedFont>
    <p:embeddedFont>
      <p:font typeface="Montserrat Classic Bold" panose="020B0604020202020204" charset="0"/>
      <p:regular r:id="rId1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44" d="100"/>
          <a:sy n="44" d="100"/>
        </p:scale>
        <p:origin x="660" y="3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font" Target="fonts/font1.fntdata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font" Target="fonts/font3.fntdata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111642">
            <a:off x="8531067" y="1484129"/>
            <a:ext cx="10443683" cy="8487866"/>
          </a:xfrm>
          <a:custGeom>
            <a:avLst/>
            <a:gdLst/>
            <a:ahLst/>
            <a:cxnLst/>
            <a:rect l="l" t="t" r="r" b="b"/>
            <a:pathLst>
              <a:path w="10443683" h="8487866">
                <a:moveTo>
                  <a:pt x="0" y="0"/>
                </a:moveTo>
                <a:lnTo>
                  <a:pt x="10443683" y="0"/>
                </a:lnTo>
                <a:lnTo>
                  <a:pt x="10443683" y="8487866"/>
                </a:lnTo>
                <a:lnTo>
                  <a:pt x="0" y="84878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>
            <a:off x="4280340" y="7058405"/>
            <a:ext cx="9727319" cy="3106962"/>
          </a:xfrm>
          <a:custGeom>
            <a:avLst/>
            <a:gdLst/>
            <a:ahLst/>
            <a:cxnLst/>
            <a:rect l="l" t="t" r="r" b="b"/>
            <a:pathLst>
              <a:path w="9727319" h="3106962">
                <a:moveTo>
                  <a:pt x="0" y="0"/>
                </a:moveTo>
                <a:lnTo>
                  <a:pt x="9727318" y="0"/>
                </a:lnTo>
                <a:lnTo>
                  <a:pt x="9727318" y="3106962"/>
                </a:lnTo>
                <a:lnTo>
                  <a:pt x="0" y="31069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Freeform 4"/>
          <p:cNvSpPr/>
          <p:nvPr/>
        </p:nvSpPr>
        <p:spPr>
          <a:xfrm>
            <a:off x="10363200" y="3226"/>
            <a:ext cx="6779419" cy="1304188"/>
          </a:xfrm>
          <a:custGeom>
            <a:avLst/>
            <a:gdLst/>
            <a:ahLst/>
            <a:cxnLst/>
            <a:rect l="l" t="t" r="r" b="b"/>
            <a:pathLst>
              <a:path w="6779419" h="1304188">
                <a:moveTo>
                  <a:pt x="0" y="0"/>
                </a:moveTo>
                <a:lnTo>
                  <a:pt x="6779420" y="0"/>
                </a:lnTo>
                <a:lnTo>
                  <a:pt x="6779420" y="1304188"/>
                </a:lnTo>
                <a:lnTo>
                  <a:pt x="0" y="130418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t="-21884" b="-27563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Freeform 5"/>
          <p:cNvSpPr/>
          <p:nvPr/>
        </p:nvSpPr>
        <p:spPr>
          <a:xfrm>
            <a:off x="0" y="9222951"/>
            <a:ext cx="3483925" cy="1064049"/>
          </a:xfrm>
          <a:custGeom>
            <a:avLst/>
            <a:gdLst/>
            <a:ahLst/>
            <a:cxnLst/>
            <a:rect l="l" t="t" r="r" b="b"/>
            <a:pathLst>
              <a:path w="3483925" h="1064049">
                <a:moveTo>
                  <a:pt x="0" y="0"/>
                </a:moveTo>
                <a:lnTo>
                  <a:pt x="3483925" y="0"/>
                </a:lnTo>
                <a:lnTo>
                  <a:pt x="3483925" y="1064049"/>
                </a:lnTo>
                <a:lnTo>
                  <a:pt x="0" y="106404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7" name="TextBox 7"/>
          <p:cNvSpPr txBox="1"/>
          <p:nvPr/>
        </p:nvSpPr>
        <p:spPr>
          <a:xfrm>
            <a:off x="447304" y="2729850"/>
            <a:ext cx="6963603" cy="10130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920"/>
              </a:lnSpc>
            </a:pPr>
            <a:r>
              <a:rPr lang="en-US" sz="8000" dirty="0">
                <a:solidFill>
                  <a:srgbClr val="004AAD"/>
                </a:solidFill>
                <a:latin typeface="Montserrat Classic Bold"/>
              </a:rPr>
              <a:t>TNWISE2025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01780" y="4108356"/>
            <a:ext cx="15802803" cy="6669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940"/>
              </a:lnSpc>
            </a:pPr>
            <a:r>
              <a:rPr lang="en-US" sz="4000" dirty="0">
                <a:solidFill>
                  <a:srgbClr val="2BB4D4"/>
                </a:solidFill>
                <a:latin typeface="Montserrat Classic Bold"/>
              </a:rPr>
              <a:t>HACKATHON FOR WOMEN IN SCIENCE &amp; ENGINEERING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43345" y="5299490"/>
            <a:ext cx="15761238" cy="51296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959"/>
              </a:lnSpc>
            </a:pPr>
            <a:r>
              <a:rPr lang="en-US" sz="3999" dirty="0">
                <a:solidFill>
                  <a:srgbClr val="2BB4D4"/>
                </a:solidFill>
                <a:latin typeface="Montserrat Classic Bold"/>
              </a:rPr>
              <a:t>THEME: </a:t>
            </a:r>
            <a:r>
              <a:rPr lang="en-US" sz="3999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 Classic Bold"/>
              </a:rPr>
              <a:t>ACCESSIBLE DIGITAL EDUCATION AND LEARNING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01780" y="6228146"/>
            <a:ext cx="10783127" cy="5257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959"/>
              </a:lnSpc>
            </a:pPr>
            <a:r>
              <a:rPr lang="en-US" sz="3999" dirty="0">
                <a:solidFill>
                  <a:srgbClr val="2BB4D4"/>
                </a:solidFill>
                <a:latin typeface="Montserrat Classic Bold"/>
              </a:rPr>
              <a:t>TITLE: </a:t>
            </a:r>
            <a:r>
              <a:rPr lang="en-US" sz="3999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 Classic Bold"/>
              </a:rPr>
              <a:t>EDUMATE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01780" y="7156802"/>
            <a:ext cx="11942620" cy="51296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959"/>
              </a:lnSpc>
            </a:pPr>
            <a:r>
              <a:rPr lang="en-US" sz="3999" dirty="0">
                <a:solidFill>
                  <a:srgbClr val="2BB4D4"/>
                </a:solidFill>
                <a:latin typeface="Montserrat Classic Bold"/>
              </a:rPr>
              <a:t>COLLEGE: </a:t>
            </a:r>
            <a:r>
              <a:rPr lang="en-US" sz="3999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 Classic Bold"/>
              </a:rPr>
              <a:t>KONGU ENGINEERING COLLEGE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81000" y="8194600"/>
            <a:ext cx="10783127" cy="5257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959"/>
              </a:lnSpc>
            </a:pPr>
            <a:r>
              <a:rPr lang="en-US" sz="3999" dirty="0">
                <a:solidFill>
                  <a:srgbClr val="2BB4D4"/>
                </a:solidFill>
                <a:latin typeface="Montserrat Classic Bold"/>
              </a:rPr>
              <a:t>TEAM LEADER NAME: </a:t>
            </a:r>
            <a:r>
              <a:rPr lang="en-US" sz="3999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 Classic Bold"/>
              </a:rPr>
              <a:t>THANUSRI M.V</a:t>
            </a:r>
          </a:p>
        </p:txBody>
      </p:sp>
      <p:pic>
        <p:nvPicPr>
          <p:cNvPr id="14" name="Picture 13" descr="A red triangle on a black background&#10;&#10;AI-generated content may be incorrect.">
            <a:extLst>
              <a:ext uri="{FF2B5EF4-FFF2-40B4-BE49-F238E27FC236}">
                <a16:creationId xmlns:a16="http://schemas.microsoft.com/office/drawing/2014/main" id="{C0D3B9C8-2559-C95B-E8ED-E56C4F0EF385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345" y="140956"/>
            <a:ext cx="1864432" cy="180252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71525" y="3526790"/>
            <a:ext cx="7515225" cy="5943600"/>
            <a:chOff x="0" y="0"/>
            <a:chExt cx="1979319" cy="156539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979319" cy="1565393"/>
            </a:xfrm>
            <a:custGeom>
              <a:avLst/>
              <a:gdLst/>
              <a:ahLst/>
              <a:cxnLst/>
              <a:rect l="l" t="t" r="r" b="b"/>
              <a:pathLst>
                <a:path w="1979319" h="1565393">
                  <a:moveTo>
                    <a:pt x="25754" y="0"/>
                  </a:moveTo>
                  <a:lnTo>
                    <a:pt x="1953564" y="0"/>
                  </a:lnTo>
                  <a:cubicBezTo>
                    <a:pt x="1967788" y="0"/>
                    <a:pt x="1979319" y="11531"/>
                    <a:pt x="1979319" y="25754"/>
                  </a:cubicBezTo>
                  <a:lnTo>
                    <a:pt x="1979319" y="1539638"/>
                  </a:lnTo>
                  <a:cubicBezTo>
                    <a:pt x="1979319" y="1553862"/>
                    <a:pt x="1967788" y="1565393"/>
                    <a:pt x="1953564" y="1565393"/>
                  </a:cubicBezTo>
                  <a:lnTo>
                    <a:pt x="25754" y="1565393"/>
                  </a:lnTo>
                  <a:cubicBezTo>
                    <a:pt x="11531" y="1565393"/>
                    <a:pt x="0" y="1553862"/>
                    <a:pt x="0" y="1539638"/>
                  </a:cubicBezTo>
                  <a:lnTo>
                    <a:pt x="0" y="25754"/>
                  </a:lnTo>
                  <a:cubicBezTo>
                    <a:pt x="0" y="11531"/>
                    <a:pt x="11531" y="0"/>
                    <a:pt x="25754" y="0"/>
                  </a:cubicBezTo>
                  <a:close/>
                </a:path>
              </a:pathLst>
            </a:custGeom>
            <a:solidFill>
              <a:srgbClr val="FFFFFF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979319" cy="16034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571524" y="1656239"/>
            <a:ext cx="14973275" cy="6082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599"/>
              </a:lnSpc>
              <a:spcBef>
                <a:spcPct val="0"/>
              </a:spcBef>
            </a:pPr>
            <a:r>
              <a:rPr lang="en-US" sz="2800" dirty="0">
                <a:solidFill>
                  <a:srgbClr val="004AAD"/>
                </a:solidFill>
                <a:latin typeface="Montserrat Classic Bold"/>
              </a:rPr>
              <a:t>PROBLEM STATEMENT : ACCESSIBLE DIGITAL EDUCATION AND LEARNING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71525" y="2449989"/>
            <a:ext cx="7198519" cy="679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004AAD"/>
                </a:solidFill>
                <a:latin typeface="Montserrat Classic Bold"/>
              </a:rPr>
              <a:t>OBJECTIVES OF THE WORK: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41797" y="3722052"/>
            <a:ext cx="6657975" cy="6781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15901" lvl="1">
              <a:lnSpc>
                <a:spcPts val="2800"/>
              </a:lnSpc>
            </a:pPr>
            <a:endParaRPr lang="en-US" sz="2000" dirty="0">
              <a:solidFill>
                <a:srgbClr val="004AAD"/>
              </a:solidFill>
              <a:latin typeface="Montserrat Classic Bold"/>
            </a:endParaRPr>
          </a:p>
          <a:p>
            <a:pPr marL="431801" lvl="1" indent="-215900">
              <a:lnSpc>
                <a:spcPts val="2800"/>
              </a:lnSpc>
              <a:buFont typeface="Arial"/>
              <a:buChar char="•"/>
            </a:pPr>
            <a:endParaRPr lang="en-US" sz="2000" dirty="0">
              <a:solidFill>
                <a:srgbClr val="004AAD"/>
              </a:solidFill>
              <a:latin typeface="Montserrat Classic Bold"/>
            </a:endParaRPr>
          </a:p>
        </p:txBody>
      </p:sp>
      <p:grpSp>
        <p:nvGrpSpPr>
          <p:cNvPr id="8" name="Group 8"/>
          <p:cNvGrpSpPr/>
          <p:nvPr/>
        </p:nvGrpSpPr>
        <p:grpSpPr>
          <a:xfrm>
            <a:off x="10233050" y="3526790"/>
            <a:ext cx="7515225" cy="5943600"/>
            <a:chOff x="0" y="0"/>
            <a:chExt cx="1979319" cy="156539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979319" cy="1565393"/>
            </a:xfrm>
            <a:custGeom>
              <a:avLst/>
              <a:gdLst/>
              <a:ahLst/>
              <a:cxnLst/>
              <a:rect l="l" t="t" r="r" b="b"/>
              <a:pathLst>
                <a:path w="1979319" h="1565393">
                  <a:moveTo>
                    <a:pt x="25754" y="0"/>
                  </a:moveTo>
                  <a:lnTo>
                    <a:pt x="1953564" y="0"/>
                  </a:lnTo>
                  <a:cubicBezTo>
                    <a:pt x="1967788" y="0"/>
                    <a:pt x="1979319" y="11531"/>
                    <a:pt x="1979319" y="25754"/>
                  </a:cubicBezTo>
                  <a:lnTo>
                    <a:pt x="1979319" y="1539638"/>
                  </a:lnTo>
                  <a:cubicBezTo>
                    <a:pt x="1979319" y="1553862"/>
                    <a:pt x="1967788" y="1565393"/>
                    <a:pt x="1953564" y="1565393"/>
                  </a:cubicBezTo>
                  <a:lnTo>
                    <a:pt x="25754" y="1565393"/>
                  </a:lnTo>
                  <a:cubicBezTo>
                    <a:pt x="11531" y="1565393"/>
                    <a:pt x="0" y="1553862"/>
                    <a:pt x="0" y="1539638"/>
                  </a:cubicBezTo>
                  <a:lnTo>
                    <a:pt x="0" y="25754"/>
                  </a:lnTo>
                  <a:cubicBezTo>
                    <a:pt x="0" y="11531"/>
                    <a:pt x="11531" y="0"/>
                    <a:pt x="25754" y="0"/>
                  </a:cubicBezTo>
                  <a:close/>
                </a:path>
              </a:pathLst>
            </a:custGeom>
            <a:solidFill>
              <a:srgbClr val="FFFFFF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979319" cy="16034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0" y="9661866"/>
            <a:ext cx="2046822" cy="625134"/>
          </a:xfrm>
          <a:custGeom>
            <a:avLst/>
            <a:gdLst/>
            <a:ahLst/>
            <a:cxnLst/>
            <a:rect l="l" t="t" r="r" b="b"/>
            <a:pathLst>
              <a:path w="2046822" h="625134">
                <a:moveTo>
                  <a:pt x="0" y="0"/>
                </a:moveTo>
                <a:lnTo>
                  <a:pt x="2046822" y="0"/>
                </a:lnTo>
                <a:lnTo>
                  <a:pt x="2046822" y="625134"/>
                </a:lnTo>
                <a:lnTo>
                  <a:pt x="0" y="62513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4" name="Freeform 14"/>
          <p:cNvSpPr/>
          <p:nvPr/>
        </p:nvSpPr>
        <p:spPr>
          <a:xfrm>
            <a:off x="10270581" y="0"/>
            <a:ext cx="6779419" cy="1304188"/>
          </a:xfrm>
          <a:custGeom>
            <a:avLst/>
            <a:gdLst/>
            <a:ahLst/>
            <a:cxnLst/>
            <a:rect l="l" t="t" r="r" b="b"/>
            <a:pathLst>
              <a:path w="6779419" h="1304188">
                <a:moveTo>
                  <a:pt x="0" y="0"/>
                </a:moveTo>
                <a:lnTo>
                  <a:pt x="6779419" y="0"/>
                </a:lnTo>
                <a:lnTo>
                  <a:pt x="6779419" y="1304188"/>
                </a:lnTo>
                <a:lnTo>
                  <a:pt x="0" y="130418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21884" b="-27563"/>
            </a:stretch>
          </a:blipFill>
        </p:spPr>
        <p:txBody>
          <a:bodyPr/>
          <a:lstStyle/>
          <a:p>
            <a:endParaRPr lang="en-IN"/>
          </a:p>
        </p:txBody>
      </p:sp>
      <p:pic>
        <p:nvPicPr>
          <p:cNvPr id="15" name="Picture 14" descr="A red triangle on a black background&#10;&#10;AI-generated content may be incorrect.">
            <a:extLst>
              <a:ext uri="{FF2B5EF4-FFF2-40B4-BE49-F238E27FC236}">
                <a16:creationId xmlns:a16="http://schemas.microsoft.com/office/drawing/2014/main" id="{252509E6-206F-0015-8B75-33A2B64C85E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345" y="140956"/>
            <a:ext cx="1449098" cy="1400983"/>
          </a:xfrm>
          <a:prstGeom prst="rect">
            <a:avLst/>
          </a:prstGeom>
        </p:spPr>
      </p:pic>
      <p:sp>
        <p:nvSpPr>
          <p:cNvPr id="16" name="Rectangle 2">
            <a:extLst>
              <a:ext uri="{FF2B5EF4-FFF2-40B4-BE49-F238E27FC236}">
                <a16:creationId xmlns:a16="http://schemas.microsoft.com/office/drawing/2014/main" id="{47D3CB29-0AD5-65B3-66C3-DAA51BB6D3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1797" y="3928598"/>
            <a:ext cx="6960904" cy="55399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Provide inclusive learning tools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blind and deaf users using Braille representation and audio/voice assistance.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Enable accessible interaction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through features like volume control, voice-assisted chatbot, and hardware buttons.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Guide users through tutorials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on app usage and the Braille system with an interactive learning approach.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Offer a user-friendly interface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that supports easy navigation, registration, and clear exit flow.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1EF8054C-BE9D-064F-2904-E00814968DD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39400" y="3722052"/>
            <a:ext cx="7006803" cy="561244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0" y="9661866"/>
            <a:ext cx="2046822" cy="625134"/>
          </a:xfrm>
          <a:custGeom>
            <a:avLst/>
            <a:gdLst/>
            <a:ahLst/>
            <a:cxnLst/>
            <a:rect l="l" t="t" r="r" b="b"/>
            <a:pathLst>
              <a:path w="2046822" h="625134">
                <a:moveTo>
                  <a:pt x="0" y="0"/>
                </a:moveTo>
                <a:lnTo>
                  <a:pt x="2046822" y="0"/>
                </a:lnTo>
                <a:lnTo>
                  <a:pt x="2046822" y="625134"/>
                </a:lnTo>
                <a:lnTo>
                  <a:pt x="0" y="62513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Freeform 5"/>
          <p:cNvSpPr/>
          <p:nvPr/>
        </p:nvSpPr>
        <p:spPr>
          <a:xfrm>
            <a:off x="10515600" y="114229"/>
            <a:ext cx="6779419" cy="1304188"/>
          </a:xfrm>
          <a:custGeom>
            <a:avLst/>
            <a:gdLst/>
            <a:ahLst/>
            <a:cxnLst/>
            <a:rect l="l" t="t" r="r" b="b"/>
            <a:pathLst>
              <a:path w="6779419" h="1304188">
                <a:moveTo>
                  <a:pt x="0" y="0"/>
                </a:moveTo>
                <a:lnTo>
                  <a:pt x="6779419" y="0"/>
                </a:lnTo>
                <a:lnTo>
                  <a:pt x="6779419" y="1304188"/>
                </a:lnTo>
                <a:lnTo>
                  <a:pt x="0" y="130418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21884" b="-27563"/>
            </a:stretch>
          </a:blipFill>
        </p:spPr>
        <p:txBody>
          <a:bodyPr/>
          <a:lstStyle/>
          <a:p>
            <a:endParaRPr lang="en-IN"/>
          </a:p>
        </p:txBody>
      </p:sp>
      <p:pic>
        <p:nvPicPr>
          <p:cNvPr id="6" name="Picture 5" descr="A red triangle on a black background&#10;&#10;AI-generated content may be incorrect.">
            <a:extLst>
              <a:ext uri="{FF2B5EF4-FFF2-40B4-BE49-F238E27FC236}">
                <a16:creationId xmlns:a16="http://schemas.microsoft.com/office/drawing/2014/main" id="{FD8BF8A6-E626-542E-2ECC-D7F5405985F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345" y="140956"/>
            <a:ext cx="1449098" cy="140098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774F79C-4FFE-DE44-AB63-9FAE2971D5F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92443" y="1141626"/>
            <a:ext cx="13639799" cy="852568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0B4113F-7307-D9AE-49D9-3A0F7B4F92B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96200" y="4785976"/>
            <a:ext cx="2514600" cy="2133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1046" y="38766"/>
            <a:ext cx="6779419" cy="1304188"/>
          </a:xfrm>
          <a:custGeom>
            <a:avLst/>
            <a:gdLst/>
            <a:ahLst/>
            <a:cxnLst/>
            <a:rect l="l" t="t" r="r" b="b"/>
            <a:pathLst>
              <a:path w="6779419" h="1304188">
                <a:moveTo>
                  <a:pt x="0" y="0"/>
                </a:moveTo>
                <a:lnTo>
                  <a:pt x="6779419" y="0"/>
                </a:lnTo>
                <a:lnTo>
                  <a:pt x="6779419" y="1304188"/>
                </a:lnTo>
                <a:lnTo>
                  <a:pt x="0" y="130418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1884" b="-27563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>
            <a:off x="0" y="9661866"/>
            <a:ext cx="2046822" cy="625134"/>
          </a:xfrm>
          <a:custGeom>
            <a:avLst/>
            <a:gdLst/>
            <a:ahLst/>
            <a:cxnLst/>
            <a:rect l="l" t="t" r="r" b="b"/>
            <a:pathLst>
              <a:path w="2046822" h="625134">
                <a:moveTo>
                  <a:pt x="0" y="0"/>
                </a:moveTo>
                <a:lnTo>
                  <a:pt x="2046822" y="0"/>
                </a:lnTo>
                <a:lnTo>
                  <a:pt x="2046822" y="625134"/>
                </a:lnTo>
                <a:lnTo>
                  <a:pt x="0" y="62513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TextBox 5"/>
          <p:cNvSpPr txBox="1"/>
          <p:nvPr/>
        </p:nvSpPr>
        <p:spPr>
          <a:xfrm>
            <a:off x="950508" y="2037239"/>
            <a:ext cx="8045400" cy="679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004AAD"/>
                </a:solidFill>
                <a:latin typeface="Montserrat Classic Bold"/>
              </a:rPr>
              <a:t>PROJECT DESCRIPTION: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950508" y="3217478"/>
            <a:ext cx="7515225" cy="5943600"/>
            <a:chOff x="0" y="0"/>
            <a:chExt cx="1979319" cy="156539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979319" cy="1565393"/>
            </a:xfrm>
            <a:custGeom>
              <a:avLst/>
              <a:gdLst/>
              <a:ahLst/>
              <a:cxnLst/>
              <a:rect l="l" t="t" r="r" b="b"/>
              <a:pathLst>
                <a:path w="1979319" h="1565393">
                  <a:moveTo>
                    <a:pt x="25754" y="0"/>
                  </a:moveTo>
                  <a:lnTo>
                    <a:pt x="1953564" y="0"/>
                  </a:lnTo>
                  <a:cubicBezTo>
                    <a:pt x="1967788" y="0"/>
                    <a:pt x="1979319" y="11531"/>
                    <a:pt x="1979319" y="25754"/>
                  </a:cubicBezTo>
                  <a:lnTo>
                    <a:pt x="1979319" y="1539638"/>
                  </a:lnTo>
                  <a:cubicBezTo>
                    <a:pt x="1979319" y="1553862"/>
                    <a:pt x="1967788" y="1565393"/>
                    <a:pt x="1953564" y="1565393"/>
                  </a:cubicBezTo>
                  <a:lnTo>
                    <a:pt x="25754" y="1565393"/>
                  </a:lnTo>
                  <a:cubicBezTo>
                    <a:pt x="11531" y="1565393"/>
                    <a:pt x="0" y="1553862"/>
                    <a:pt x="0" y="1539638"/>
                  </a:cubicBezTo>
                  <a:lnTo>
                    <a:pt x="0" y="25754"/>
                  </a:lnTo>
                  <a:cubicBezTo>
                    <a:pt x="0" y="11531"/>
                    <a:pt x="11531" y="0"/>
                    <a:pt x="25754" y="0"/>
                  </a:cubicBezTo>
                  <a:close/>
                </a:path>
              </a:pathLst>
            </a:custGeom>
            <a:solidFill>
              <a:srgbClr val="FFFFFF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979319" cy="16034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220779" y="3412740"/>
            <a:ext cx="6657975" cy="6781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15901" lvl="1">
              <a:lnSpc>
                <a:spcPts val="2800"/>
              </a:lnSpc>
            </a:pPr>
            <a:endParaRPr lang="en-US" sz="2000" dirty="0">
              <a:solidFill>
                <a:srgbClr val="004AAD"/>
              </a:solidFill>
              <a:latin typeface="Montserrat Classic Bold"/>
            </a:endParaRPr>
          </a:p>
          <a:p>
            <a:pPr marL="431801" lvl="1" indent="-215900">
              <a:lnSpc>
                <a:spcPts val="2800"/>
              </a:lnSpc>
              <a:buFont typeface="Arial"/>
              <a:buChar char="•"/>
            </a:pPr>
            <a:endParaRPr lang="en-US" sz="2000" dirty="0">
              <a:solidFill>
                <a:srgbClr val="004AAD"/>
              </a:solidFill>
              <a:latin typeface="Montserrat Classic Bold"/>
            </a:endParaRPr>
          </a:p>
        </p:txBody>
      </p:sp>
      <p:grpSp>
        <p:nvGrpSpPr>
          <p:cNvPr id="10" name="Group 10"/>
          <p:cNvGrpSpPr/>
          <p:nvPr/>
        </p:nvGrpSpPr>
        <p:grpSpPr>
          <a:xfrm>
            <a:off x="9744075" y="3217478"/>
            <a:ext cx="7515225" cy="5943600"/>
            <a:chOff x="0" y="0"/>
            <a:chExt cx="1979319" cy="1565393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979319" cy="1565393"/>
            </a:xfrm>
            <a:custGeom>
              <a:avLst/>
              <a:gdLst/>
              <a:ahLst/>
              <a:cxnLst/>
              <a:rect l="l" t="t" r="r" b="b"/>
              <a:pathLst>
                <a:path w="1979319" h="1565393">
                  <a:moveTo>
                    <a:pt x="25754" y="0"/>
                  </a:moveTo>
                  <a:lnTo>
                    <a:pt x="1953564" y="0"/>
                  </a:lnTo>
                  <a:cubicBezTo>
                    <a:pt x="1967788" y="0"/>
                    <a:pt x="1979319" y="11531"/>
                    <a:pt x="1979319" y="25754"/>
                  </a:cubicBezTo>
                  <a:lnTo>
                    <a:pt x="1979319" y="1539638"/>
                  </a:lnTo>
                  <a:cubicBezTo>
                    <a:pt x="1979319" y="1553862"/>
                    <a:pt x="1967788" y="1565393"/>
                    <a:pt x="1953564" y="1565393"/>
                  </a:cubicBezTo>
                  <a:lnTo>
                    <a:pt x="25754" y="1565393"/>
                  </a:lnTo>
                  <a:cubicBezTo>
                    <a:pt x="11531" y="1565393"/>
                    <a:pt x="0" y="1553862"/>
                    <a:pt x="0" y="1539638"/>
                  </a:cubicBezTo>
                  <a:lnTo>
                    <a:pt x="0" y="25754"/>
                  </a:lnTo>
                  <a:cubicBezTo>
                    <a:pt x="0" y="11531"/>
                    <a:pt x="11531" y="0"/>
                    <a:pt x="25754" y="0"/>
                  </a:cubicBezTo>
                  <a:close/>
                </a:path>
              </a:pathLst>
            </a:custGeom>
            <a:solidFill>
              <a:srgbClr val="FFFFFF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1979319" cy="16034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9744075" y="2037239"/>
            <a:ext cx="3926681" cy="679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004AAD"/>
                </a:solidFill>
                <a:latin typeface="Montserrat Classic Bold"/>
              </a:rPr>
              <a:t>CONCLUSIONS:</a:t>
            </a:r>
          </a:p>
        </p:txBody>
      </p:sp>
      <p:pic>
        <p:nvPicPr>
          <p:cNvPr id="15" name="Picture 14" descr="A red triangle on a black background&#10;&#10;AI-generated content may be incorrect.">
            <a:extLst>
              <a:ext uri="{FF2B5EF4-FFF2-40B4-BE49-F238E27FC236}">
                <a16:creationId xmlns:a16="http://schemas.microsoft.com/office/drawing/2014/main" id="{E19818C8-6E56-4342-3899-12E8C1FB492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345" y="140956"/>
            <a:ext cx="1449098" cy="1400983"/>
          </a:xfrm>
          <a:prstGeom prst="rect">
            <a:avLst/>
          </a:prstGeo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AE89E260-E176-C314-BB4E-D583B3A329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3411" y="3735716"/>
            <a:ext cx="7195635" cy="5078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mobile application designed for blind and deaf users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to support inclusive education through Braille and audio-guided learning.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Integrates accessibility features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like camera support, power button controls, and voice assistance for enhanced usability.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Includes interactive modules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such as tutorials, content modes, and a learning interface for practicing alphabets, numbers, and words.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Provides user-friendly navigation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with simple registration/login, voice-assisted chatbot, and easy logout/exit flow.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" name="Rectangle 2">
            <a:extLst>
              <a:ext uri="{FF2B5EF4-FFF2-40B4-BE49-F238E27FC236}">
                <a16:creationId xmlns:a16="http://schemas.microsoft.com/office/drawing/2014/main" id="{661C1C6F-F6A8-F4D6-9355-B8C5B187DA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64559" y="3344101"/>
            <a:ext cx="7085020" cy="58169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app successfully enhances learning accessibility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blind and deaf users through tailored features like Braille content, audio guidance, and voice interaction.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User-friendly design and intuitive controls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improve the overall usability and learning experience.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Interactive tutorials and structured content modes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support self-paced learning, helping users understand and use the Braille system effectively.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integration of assistive technology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demonstrates the potential for inclusive digital solutions that bridge communication and learning gaps.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16223" y="1930392"/>
            <a:ext cx="6410623" cy="679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004AAD"/>
                </a:solidFill>
                <a:latin typeface="Montserrat Classic Bold"/>
              </a:rPr>
              <a:t>TEAM MEMBER DETAILS:</a:t>
            </a:r>
          </a:p>
        </p:txBody>
      </p:sp>
      <p:sp>
        <p:nvSpPr>
          <p:cNvPr id="3" name="Freeform 3"/>
          <p:cNvSpPr/>
          <p:nvPr/>
        </p:nvSpPr>
        <p:spPr>
          <a:xfrm>
            <a:off x="10632455" y="110817"/>
            <a:ext cx="6779419" cy="1304188"/>
          </a:xfrm>
          <a:custGeom>
            <a:avLst/>
            <a:gdLst/>
            <a:ahLst/>
            <a:cxnLst/>
            <a:rect l="l" t="t" r="r" b="b"/>
            <a:pathLst>
              <a:path w="6779419" h="1304188">
                <a:moveTo>
                  <a:pt x="0" y="0"/>
                </a:moveTo>
                <a:lnTo>
                  <a:pt x="6779419" y="0"/>
                </a:lnTo>
                <a:lnTo>
                  <a:pt x="6779419" y="1304188"/>
                </a:lnTo>
                <a:lnTo>
                  <a:pt x="0" y="130418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1884" b="-27563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Freeform 4"/>
          <p:cNvSpPr/>
          <p:nvPr/>
        </p:nvSpPr>
        <p:spPr>
          <a:xfrm>
            <a:off x="0" y="9661866"/>
            <a:ext cx="2046822" cy="625134"/>
          </a:xfrm>
          <a:custGeom>
            <a:avLst/>
            <a:gdLst/>
            <a:ahLst/>
            <a:cxnLst/>
            <a:rect l="l" t="t" r="r" b="b"/>
            <a:pathLst>
              <a:path w="2046822" h="625134">
                <a:moveTo>
                  <a:pt x="0" y="0"/>
                </a:moveTo>
                <a:lnTo>
                  <a:pt x="2046822" y="0"/>
                </a:lnTo>
                <a:lnTo>
                  <a:pt x="2046822" y="625134"/>
                </a:lnTo>
                <a:lnTo>
                  <a:pt x="0" y="62513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6" name="TextBox 6"/>
          <p:cNvSpPr txBox="1"/>
          <p:nvPr/>
        </p:nvSpPr>
        <p:spPr>
          <a:xfrm>
            <a:off x="728258" y="3204607"/>
            <a:ext cx="2831902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4AAD"/>
                </a:solidFill>
                <a:latin typeface="Montserrat Classic Bold"/>
              </a:rPr>
              <a:t>TEAM MEMBER 1 :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466557" y="3204607"/>
            <a:ext cx="2891582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4AAD"/>
                </a:solidFill>
                <a:latin typeface="Montserrat Classic Bold"/>
              </a:rPr>
              <a:t>TEAM MEMBER 2 :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939216" y="3204607"/>
            <a:ext cx="2878187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4AAD"/>
                </a:solidFill>
                <a:latin typeface="Montserrat Classic Bold"/>
              </a:rPr>
              <a:t>TEAM MEMBER 3 :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28258" y="4067175"/>
            <a:ext cx="5472658" cy="173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499"/>
              </a:lnSpc>
            </a:pPr>
            <a:r>
              <a:rPr lang="en-US" sz="2499" dirty="0">
                <a:solidFill>
                  <a:srgbClr val="004AAD"/>
                </a:solidFill>
                <a:latin typeface="Montserrat Classic Bold"/>
              </a:rPr>
              <a:t>NAME: SOWMIYA SREE M</a:t>
            </a:r>
          </a:p>
          <a:p>
            <a:pPr>
              <a:lnSpc>
                <a:spcPts val="3499"/>
              </a:lnSpc>
            </a:pPr>
            <a:r>
              <a:rPr lang="en-US" sz="2499" dirty="0">
                <a:solidFill>
                  <a:srgbClr val="004AAD"/>
                </a:solidFill>
                <a:latin typeface="Montserrat Classic Bold"/>
              </a:rPr>
              <a:t>SEMESTER: SECOND</a:t>
            </a:r>
          </a:p>
          <a:p>
            <a:pPr>
              <a:lnSpc>
                <a:spcPts val="3499"/>
              </a:lnSpc>
            </a:pPr>
            <a:r>
              <a:rPr lang="en-US" sz="2499" dirty="0">
                <a:solidFill>
                  <a:srgbClr val="004AAD"/>
                </a:solidFill>
                <a:latin typeface="Montserrat Classic Bold"/>
              </a:rPr>
              <a:t>YEAR: 1ST</a:t>
            </a:r>
          </a:p>
          <a:p>
            <a:pPr>
              <a:lnSpc>
                <a:spcPts val="3499"/>
              </a:lnSpc>
              <a:spcBef>
                <a:spcPct val="0"/>
              </a:spcBef>
            </a:pPr>
            <a:r>
              <a:rPr lang="en-US" sz="2499" dirty="0">
                <a:solidFill>
                  <a:srgbClr val="004AAD"/>
                </a:solidFill>
                <a:latin typeface="Montserrat Classic Bold"/>
              </a:rPr>
              <a:t>DEPARTMENT: MCA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466557" y="4067175"/>
            <a:ext cx="5472658" cy="173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499"/>
              </a:lnSpc>
            </a:pPr>
            <a:r>
              <a:rPr lang="en-US" sz="2499" dirty="0">
                <a:solidFill>
                  <a:srgbClr val="004AAD"/>
                </a:solidFill>
                <a:latin typeface="Montserrat Classic Bold"/>
              </a:rPr>
              <a:t>NAME: THANUSRI M.V</a:t>
            </a:r>
          </a:p>
          <a:p>
            <a:pPr>
              <a:lnSpc>
                <a:spcPts val="3499"/>
              </a:lnSpc>
            </a:pPr>
            <a:r>
              <a:rPr lang="en-US" sz="2499" dirty="0">
                <a:solidFill>
                  <a:srgbClr val="004AAD"/>
                </a:solidFill>
                <a:latin typeface="Montserrat Classic Bold"/>
              </a:rPr>
              <a:t>SEMESTER: SECOND</a:t>
            </a:r>
          </a:p>
          <a:p>
            <a:pPr>
              <a:lnSpc>
                <a:spcPts val="3499"/>
              </a:lnSpc>
            </a:pPr>
            <a:r>
              <a:rPr lang="en-US" sz="2499" dirty="0">
                <a:solidFill>
                  <a:srgbClr val="004AAD"/>
                </a:solidFill>
                <a:latin typeface="Montserrat Classic Bold"/>
              </a:rPr>
              <a:t>YEAR: 1ST</a:t>
            </a:r>
          </a:p>
          <a:p>
            <a:pPr>
              <a:lnSpc>
                <a:spcPts val="3499"/>
              </a:lnSpc>
              <a:spcBef>
                <a:spcPct val="0"/>
              </a:spcBef>
            </a:pPr>
            <a:r>
              <a:rPr lang="en-US" sz="2499" dirty="0">
                <a:solidFill>
                  <a:srgbClr val="004AAD"/>
                </a:solidFill>
                <a:latin typeface="Montserrat Classic Bold"/>
              </a:rPr>
              <a:t>DEPARTMENT: MCA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939216" y="4067175"/>
            <a:ext cx="5472658" cy="173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499"/>
              </a:lnSpc>
            </a:pPr>
            <a:r>
              <a:rPr lang="en-US" sz="2499" dirty="0">
                <a:solidFill>
                  <a:srgbClr val="004AAD"/>
                </a:solidFill>
                <a:latin typeface="Montserrat Classic Bold"/>
              </a:rPr>
              <a:t>NAME: POOJA E</a:t>
            </a:r>
          </a:p>
          <a:p>
            <a:pPr>
              <a:lnSpc>
                <a:spcPts val="3499"/>
              </a:lnSpc>
            </a:pPr>
            <a:r>
              <a:rPr lang="en-US" sz="2499" dirty="0">
                <a:solidFill>
                  <a:srgbClr val="004AAD"/>
                </a:solidFill>
                <a:latin typeface="Montserrat Classic Bold"/>
              </a:rPr>
              <a:t>SEMESTER: SECOND</a:t>
            </a:r>
          </a:p>
          <a:p>
            <a:pPr>
              <a:lnSpc>
                <a:spcPts val="3499"/>
              </a:lnSpc>
            </a:pPr>
            <a:r>
              <a:rPr lang="en-US" sz="2499" dirty="0">
                <a:solidFill>
                  <a:srgbClr val="004AAD"/>
                </a:solidFill>
                <a:latin typeface="Montserrat Classic Bold"/>
              </a:rPr>
              <a:t>YEAR: 1ST</a:t>
            </a:r>
          </a:p>
          <a:p>
            <a:pPr>
              <a:lnSpc>
                <a:spcPts val="3499"/>
              </a:lnSpc>
              <a:spcBef>
                <a:spcPct val="0"/>
              </a:spcBef>
            </a:pPr>
            <a:r>
              <a:rPr lang="en-US" sz="2499" dirty="0">
                <a:solidFill>
                  <a:srgbClr val="004AAD"/>
                </a:solidFill>
                <a:latin typeface="Montserrat Classic Bold"/>
              </a:rPr>
              <a:t>DEPARTMENT: MCA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28258" y="6778625"/>
            <a:ext cx="3593455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4AAD"/>
                </a:solidFill>
                <a:latin typeface="Montserrat Classic Bold"/>
              </a:rPr>
              <a:t>TEAM MENTOR NAME: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28258" y="7394575"/>
            <a:ext cx="7120342" cy="17453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499"/>
              </a:lnSpc>
            </a:pPr>
            <a:r>
              <a:rPr lang="en-US" sz="2499" dirty="0">
                <a:solidFill>
                  <a:srgbClr val="004AAD"/>
                </a:solidFill>
                <a:latin typeface="Montserrat Classic Bold"/>
              </a:rPr>
              <a:t>NAME: HEMALATHA S</a:t>
            </a:r>
          </a:p>
          <a:p>
            <a:pPr>
              <a:lnSpc>
                <a:spcPts val="3499"/>
              </a:lnSpc>
            </a:pPr>
            <a:r>
              <a:rPr lang="en-US" sz="2499" dirty="0">
                <a:solidFill>
                  <a:srgbClr val="004AAD"/>
                </a:solidFill>
                <a:latin typeface="Montserrat Classic Bold"/>
              </a:rPr>
              <a:t>DESIGNATION: MCA., PhD(pursuing) DEPARTMENT: MCA</a:t>
            </a:r>
          </a:p>
          <a:p>
            <a:pPr>
              <a:lnSpc>
                <a:spcPts val="3499"/>
              </a:lnSpc>
              <a:spcBef>
                <a:spcPct val="0"/>
              </a:spcBef>
            </a:pPr>
            <a:r>
              <a:rPr lang="en-US" sz="2499" dirty="0">
                <a:solidFill>
                  <a:srgbClr val="004AAD"/>
                </a:solidFill>
                <a:latin typeface="Montserrat Classic Bold"/>
              </a:rPr>
              <a:t>COLLEGE: KONGU ENGINEERING COLLEGE</a:t>
            </a:r>
          </a:p>
        </p:txBody>
      </p:sp>
      <p:pic>
        <p:nvPicPr>
          <p:cNvPr id="14" name="Picture 13" descr="A red triangle on a black background&#10;&#10;AI-generated content may be incorrect.">
            <a:extLst>
              <a:ext uri="{FF2B5EF4-FFF2-40B4-BE49-F238E27FC236}">
                <a16:creationId xmlns:a16="http://schemas.microsoft.com/office/drawing/2014/main" id="{E6838B5C-DA05-340E-B3A5-FC195364A16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345" y="140956"/>
            <a:ext cx="1449098" cy="140098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228</TotalTime>
  <Words>354</Words>
  <Application>Microsoft Office PowerPoint</Application>
  <PresentationFormat>Custom</PresentationFormat>
  <Paragraphs>44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Times New Roman</vt:lpstr>
      <vt:lpstr>Calibri</vt:lpstr>
      <vt:lpstr>Montserrat Classic 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Modern and Minimal Company Profile Presentation</dc:title>
  <dc:creator>TANCAM-E1</dc:creator>
  <cp:lastModifiedBy>pooja E</cp:lastModifiedBy>
  <cp:revision>10</cp:revision>
  <dcterms:created xsi:type="dcterms:W3CDTF">2006-08-16T00:00:00Z</dcterms:created>
  <dcterms:modified xsi:type="dcterms:W3CDTF">2025-04-07T10:40:56Z</dcterms:modified>
  <dc:identifier>DAF9lOCI3r0</dc:identifier>
</cp:coreProperties>
</file>